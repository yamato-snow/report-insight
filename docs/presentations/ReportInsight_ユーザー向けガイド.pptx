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82296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現場報告書AI処理・ナレッジ検索システム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Yu Gothic"/>
              </a:rPr>
              <a:t>Report Insight
使い方ガイド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E6F2F2"/>
                </a:solidFill>
                <a:latin typeface="Yu Gothic"/>
              </a:rPr>
              <a:t>報告書の確認が「全部読む」から「要対応だけ見る」に変わります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105156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F2F2"/>
                </a:solidFill>
                <a:latin typeface="Yu Gothic"/>
              </a:rPr>
              <a:t>対象：支店管理者 / 本社品質管理部の皆さま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E6F2F2"/>
                </a:solidFill>
                <a:latin typeface="Yu Gothic"/>
              </a:rPr>
              <a:t>所要：はじめての方でも10分で概要がつかめます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5120640"/>
            <a:ext cx="228600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5120640"/>
            <a:ext cx="2286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0B5F62"/>
                </a:solidFill>
                <a:latin typeface="Yu Gothic"/>
              </a:rPr>
              <a:t>ユーザー向け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577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D9E6E6"/>
                </a:solidFill>
                <a:latin typeface="Yu Gothic"/>
              </a:rPr>
              <a:t>〇〇ビルメンテナンス株式会社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この資料を読み終えると、明日から何ができるか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202C"/>
                </a:solidFill>
                <a:latin typeface="Yu Gothic"/>
              </a:rPr>
              <a:t>毎日400件の報告書を「全部目で確認」していた作業を、AIが一次仕分けし、あなたは要対応の報告書だけを見ればよくなります。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8712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712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9504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① 要対応だけ確認する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2916936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AIが「清掃・設備異常・クレーム」を仕分け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緊急度の高い報告は即Slack通知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自信がない仕分けは“未分類”に回り、
 あなたの確認を待つ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36008" y="28712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28712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889504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② 過去事例を言葉で探す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438144"/>
            <a:ext cx="2916936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「〇〇ビルの雨漏り、前どうした？」
 をそのまま入力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10秒で候補と要約を提示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必ず元の報告書リンク付きで
 根拠を確認できる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57615" y="28712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8712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5" y="2889504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③ 月次報告を下書きさせる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5" y="3438144"/>
            <a:ext cx="2916936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物件×月を指定するだけ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オーナー向け報告書のドラフトを自動生成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あなたが直して承認 → PDF出力
 （確定は必ず人間）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本資料のクライアント・数値は説明用の想定値です。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いまの「困りごと」を、そのままにしていませんか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3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10881360" cy="603504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いまの困りごと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9622" y="2011680"/>
            <a:ext cx="54571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何が起きているか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7929" y="2011680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Yu Gothic"/>
              </a:rPr>
              <a:t>所要時間（1件/1物件）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15184"/>
            <a:ext cx="108813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615184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報告書の確認負荷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9622" y="2615184"/>
            <a:ext cx="54571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1日約400件を目視。異常の見落とし・初動遅れ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7929" y="2615184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15分 /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18688"/>
            <a:ext cx="10881360" cy="603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218688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異常の初動が遅い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9622" y="3218688"/>
            <a:ext cx="54571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気づくのが翌営業日になりがち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929" y="3218688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平均 翌営業日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22192"/>
            <a:ext cx="1088136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822192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月次報告の作成負荷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9622" y="3822192"/>
            <a:ext cx="54571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オーナー向け報告を手作業で集計・執筆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7929" y="3822192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2時間 / 物件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25696"/>
            <a:ext cx="10881360" cy="603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425696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過去事例が探せない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9622" y="4425696"/>
            <a:ext cx="545713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「前どう対応したか」がベテランの記憶頼み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7929" y="4425696"/>
            <a:ext cx="241035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202C"/>
                </a:solidFill>
                <a:latin typeface="Yu Gothic"/>
              </a:rPr>
              <a:t>実質 不可能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01168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029200"/>
            <a:ext cx="10881360" cy="1524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20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これらは「人手が足りない」問題ではなく、“機械にできる仕分け・集計・検索”を人がやっている問題です。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出典：要件定義書 §2〜§3（想定値）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導入後：あなたの1日はこう変わる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20240"/>
            <a:ext cx="5212080" cy="3840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5B6677"/>
                </a:solidFill>
                <a:latin typeface="Yu Gothic"/>
              </a:rPr>
              <a:t>これまで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47548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1A202C"/>
                </a:solidFill>
                <a:latin typeface="Yu Gothic"/>
              </a:rPr>
              <a:t>・400件すべてに目を通す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1A202C"/>
                </a:solidFill>
                <a:latin typeface="Yu Gothic"/>
              </a:rPr>
              <a:t>・重要な1件が埋もれる不安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1A202C"/>
                </a:solidFill>
                <a:latin typeface="Yu Gothic"/>
              </a:rPr>
              <a:t>・月次報告は毎回2時間の手作業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1A202C"/>
                </a:solidFill>
                <a:latin typeface="Yu Gothic"/>
              </a:rPr>
              <a:t>・過去対応は人に聞いて回る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1878A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4983480" cy="3840480"/>
          </a:xfrm>
          <a:prstGeom prst="roundRect">
            <a:avLst>
              <a:gd name="adj" fmla="val 6000"/>
            </a:avLst>
          </a:prstGeom>
          <a:solidFill>
            <a:srgbClr val="E9F4F4"/>
          </a:solidFill>
          <a:ln w="15240">
            <a:solidFill>
              <a:srgbClr val="118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0B5F62"/>
                </a:solidFill>
                <a:latin typeface="Yu Gothic"/>
              </a:rPr>
              <a:t>これから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269748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・要対応の報告だけを確認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・緊急はSlackで即通知、当日初動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・月次報告は下書きを直すだけ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・過去事例は言葉で10秒検索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確認15分→3分／月次2時間→30分／初動 翌日→当日（要件定義書 §3 の目標値）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11878A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5146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</a:rPr>
              <a:t>3つの機能の使い方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2487168" y="3429000"/>
            <a:ext cx="2194560" cy="381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87168" y="365760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CED9"/>
                </a:solidFill>
                <a:latin typeface="Yu Gothic"/>
              </a:rPr>
              <a:t>難しい操作はありません。日常業務の中でどう使うかを、画面のイメージで説明します。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機能①：報告書一覧 ―「要対応」に絞って確認する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6949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74519"/>
            <a:ext cx="6949440" cy="457200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報告書一覧（画面イメージ）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514600"/>
            <a:ext cx="1371600" cy="310896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Yu Gothic"/>
              </a:rPr>
              <a:t>緊急度：高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514600"/>
            <a:ext cx="1554480" cy="310896"/>
          </a:xfrm>
          <a:prstGeom prst="roundRect">
            <a:avLst>
              <a:gd name="adj" fmla="val 6000"/>
            </a:avLst>
          </a:prstGeom>
          <a:solidFill>
            <a:srgbClr val="D6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514600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Yu Gothic"/>
              </a:rPr>
              <a:t>未分類キュー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514600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2514600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Yu Gothic"/>
              </a:rPr>
              <a:t>設備異常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063240"/>
            <a:ext cx="6492240" cy="65836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322783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2783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Yu Gothic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13639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3F廊下天井にて漏水。滴下あり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41071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第一〇〇ビル / 巡回スタッフ / 確信度 0.94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794760"/>
            <a:ext cx="6492240" cy="65836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395935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D6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593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Yu Gothic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86791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空調から異音の報告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1422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△△センター / 点検 / 未分類 → 要確認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526280"/>
            <a:ext cx="6492240" cy="65836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635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" y="4690872"/>
            <a:ext cx="914400" cy="310896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9087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Yu Gothic"/>
              </a:rPr>
              <a:t>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59943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A202C"/>
                </a:solidFill>
                <a:latin typeface="Yu Gothic"/>
              </a:rPr>
              <a:t>1F清掃完了・異常なし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87375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◇◇ビル / 清掃 / AI確定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34924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B6677"/>
                </a:solidFill>
                <a:latin typeface="Yu Gothic"/>
              </a:rPr>
              <a:t>タグをクリックすれば、見たい報告書だけに絞り込めます。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874519"/>
            <a:ext cx="3749039" cy="3931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2" y="2112263"/>
            <a:ext cx="32369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あなたがすること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2" y="2660903"/>
            <a:ext cx="3236975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「未分類キュー」を開き、AIが迷った
 報告だけ判断する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AIの仕分けが違えばその場で修正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＝修正した内容はAIの学習改善に活用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緊急度「高」はSlack通知が飛ぶので
 見逃さない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対応機能：F-1 自動構造化 / F-4 管理画面・未分類キュー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機能②：ナレッジ検索 ― 過去事例を“話し言葉”で探す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20240"/>
            <a:ext cx="108813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18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A202C"/>
                </a:solidFill>
                <a:latin typeface="Yu Gothic"/>
              </a:rPr>
              <a:t>🔍  第一〇〇ビルで過去に雨漏り対応した事例は？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084831"/>
            <a:ext cx="1188720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084831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検索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88920"/>
            <a:ext cx="10881360" cy="2286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5F62"/>
                </a:solidFill>
                <a:latin typeface="Yu Gothic"/>
              </a:rPr>
              <a:t>回答（根拠リンク付き・入力しながら表示されます）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202C"/>
                </a:solidFill>
                <a:latin typeface="Yu Gothic"/>
              </a:rPr>
              <a:t>2025年6月に同物件3階で漏水対応の記録があります。屋上防水の劣化が原因で、防水シート補修で解決しています。近い症状として…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43400"/>
            <a:ext cx="2103120" cy="310896"/>
          </a:xfrm>
          <a:prstGeom prst="roundRect">
            <a:avLst>
              <a:gd name="adj" fmla="val 6000"/>
            </a:avLst>
          </a:prstGeom>
          <a:solidFill>
            <a:srgbClr val="0B5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📎 元報告書 #987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343400"/>
            <a:ext cx="2103120" cy="310896"/>
          </a:xfrm>
          <a:prstGeom prst="roundRect">
            <a:avLst>
              <a:gd name="adj" fmla="val 6000"/>
            </a:avLst>
          </a:prstGeom>
          <a:solidFill>
            <a:srgbClr val="0B5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4343400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📎 元報告書 #1012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578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1A202C"/>
                </a:solidFill>
                <a:latin typeface="Yu Gothic"/>
              </a:rPr>
              <a:t>ポイント：回答には必ず“元の報告書リンク”が付きます。該当事例が無いときは、AIは作り話をせず「見つかりませんでした」と答えます。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対応機能：F-2 RAG検索（意味検索＋物件・日付フィルタ／引用の実在検証あり）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機能③：月次報告ドラフト ―「書く」から「直して承認」へ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945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64208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物件と月を選ぶ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9184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B6677"/>
                </a:solidFill>
                <a:latin typeface="Yu Gothic"/>
              </a:rPr>
              <a:t>例：第一〇〇ビル / 2026年6月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089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1878A"/>
                </a:solidFill>
                <a:latin typeface="Yu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21945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8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AIが下書き生成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29184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B6677"/>
                </a:solidFill>
                <a:latin typeface="Yu Gothic"/>
              </a:rPr>
              <a:t>当月の報告書を集計し
Markdownで自動作成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1089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1878A"/>
                </a:solidFill>
                <a:latin typeface="Yu Gothi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21945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42048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あなたが編集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29184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B6677"/>
                </a:solidFill>
                <a:latin typeface="Yu Gothic"/>
              </a:rPr>
              <a:t>文面を確認・修正
（数字や表現を調整）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10896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11878A"/>
                </a:solidFill>
                <a:latin typeface="Yu Gothic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2194560"/>
            <a:ext cx="251460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030968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30968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2697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1A202C"/>
                </a:solidFill>
                <a:latin typeface="Yu Gothic"/>
              </a:rPr>
              <a:t>承認 →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329184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B6677"/>
                </a:solidFill>
                <a:latin typeface="Yu Gothic"/>
              </a:rPr>
              <a:t>承認した瞬間に確定
PDFで出力・配布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292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BF0E6"/>
          </a:solidFill>
          <a:ln w="12700">
            <a:solidFill>
              <a:srgbClr val="D6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2920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8A5512"/>
                </a:solidFill>
                <a:latin typeface="Yu Gothic"/>
              </a:rPr>
              <a:t>大原則：AIは「下書き」まで。オーナーに出す内容を確定するのは必ず人間（あなた）です。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対応機能：F-3 月次報告書ドラフト生成（承認操作は記録されます）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安心して使うための3つの約束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116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AIは判断を“奪わない”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98064"/>
            <a:ext cx="3008376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最終確定は必ず人間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AIが自信のない仕分けは
 “未分類”であなたに回る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AIの結果はいつでも修正可能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0116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作り話をさせない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98064"/>
            <a:ext cx="3008376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検索の回答は必ず
 元報告書リンク付き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根拠が無ければ
 「見つかりません」と回答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存在しない事例は出さない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0116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249424"/>
            <a:ext cx="30083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0B5F62"/>
                </a:solidFill>
                <a:latin typeface="Yu Gothic"/>
              </a:rPr>
              <a:t>情報を守る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798064"/>
            <a:ext cx="3008376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個人名・電話番号はAIに
 送る前に自動マスキング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他支店の情報は権限がなければ
 見えない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0" i="0">
                <a:solidFill>
                  <a:srgbClr val="1A202C"/>
                </a:solidFill>
                <a:latin typeface="Yu Gothic"/>
              </a:rPr>
              <a:t>•  承認などの操作は記録される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>対応：LLM品質・セキュリティ要件（要件定義書 §6）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4864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Yu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878A"/>
                </a:solidFill>
                <a:latin typeface="Yu Gothic"/>
              </a:rPr>
              <a:t>ユーザー向け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A202C"/>
                </a:solidFill>
                <a:latin typeface="Yu Gothic"/>
              </a:rPr>
              <a:t>よくある質問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10881360" cy="2794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5B6677"/>
                </a:solidFill>
                <a:latin typeface="Yu Gothic"/>
              </a:rPr>
              <a:t>10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0B5F62"/>
                </a:solidFill>
                <a:latin typeface="Yu Gothic"/>
              </a:rPr>
              <a:t>Q. 報告の仕方は変わりますか？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02C"/>
                </a:solidFill>
                <a:latin typeface="Yu Gothic"/>
              </a:rPr>
              <a:t>いいえ。現場スタッフの報告フローはこれまで通り。管理側の確認だけが楽になります。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614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0B5F62"/>
                </a:solidFill>
                <a:latin typeface="Yu Gothic"/>
              </a:rPr>
              <a:t>Q. AIの仕分けが間違っていたら？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723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02C"/>
                </a:solidFill>
                <a:latin typeface="Yu Gothic"/>
              </a:rPr>
              <a:t>その場で正しい分類に直せます。修正内容はAIの精度改善に使われ、だんだん賢くなります。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02736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0B5F62"/>
                </a:solidFill>
                <a:latin typeface="Yu Gothic"/>
              </a:rPr>
              <a:t>Q. 検索の答えは信用してよい？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136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02C"/>
                </a:solidFill>
                <a:latin typeface="Yu Gothic"/>
              </a:rPr>
              <a:t>答えには必ず元報告書リンクが付きます。根拠を1クリックで確認できるので、鵜呑みにせず裏取りできます。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4398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0B5F62"/>
                </a:solidFill>
                <a:latin typeface="Yu Gothic"/>
              </a:rPr>
              <a:t>Q. 他支店の報告書は見えますか？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02C"/>
                </a:solidFill>
                <a:latin typeface="Yu Gothic"/>
              </a:rPr>
              <a:t>支店管理者は自支店のみ。品質管理部は全社横断で閲覧・検索できます（権限で制御）。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8523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0B5F62"/>
                </a:solidFill>
                <a:latin typeface="Yu Gothic"/>
              </a:rPr>
              <a:t>Q. 月次報告をAIに任せきりで大丈夫？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961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202C"/>
                </a:solidFill>
                <a:latin typeface="Yu Gothic"/>
              </a:rPr>
              <a:t>確定は必ず人間です。AIは下書きまで。内容の責任は承認者が持ちます。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B6677"/>
                </a:solidFill>
                <a:latin typeface="Yu Gothic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18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Yu Gothic"/>
              </a:rPr>
              <a:t>まずは「未分類キュー」を開いてみてください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E6F2F2"/>
                </a:solidFill>
                <a:latin typeface="Yu Gothic"/>
              </a:rPr>
              <a:t>難しい準備は不要。次の順番で触れば、その日から効果を実感できます。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0B5F62"/>
                </a:solidFill>
                <a:latin typeface="Yu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6324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FFFFFF"/>
                </a:solidFill>
                <a:latin typeface="Yu Gothic"/>
              </a:rPr>
              <a:t>ログインして報告書一覧を開く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0B5F6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FFFFFF"/>
                </a:solidFill>
                <a:latin typeface="Yu Gothic"/>
              </a:rPr>
              <a:t>「未分類キュー」でAIが迷った報告だけ確認・修正する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434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0B5F62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34340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FFFFFF"/>
                </a:solidFill>
                <a:latin typeface="Yu Gothic"/>
              </a:rPr>
              <a:t>検索窓に、気になる過去事例を話し言葉で入れてみる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834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0B5F62"/>
                </a:solidFill>
                <a:latin typeface="Yu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8348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FFFFFF"/>
                </a:solidFill>
                <a:latin typeface="Yu Gothic"/>
              </a:rPr>
              <a:t>月末が近い物件で、月次ドラフトを1本生成してみる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989320"/>
            <a:ext cx="1042416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1264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9E6E6"/>
                </a:solidFill>
                <a:latin typeface="Yu Gothic"/>
              </a:rPr>
              <a:t>困ったときは：システム管理担当（社内ヘルプデスク）までお問い合わせください。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