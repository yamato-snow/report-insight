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82296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現場報告書AI処理・ナレッジ検索システム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Yu Gothic"/>
              </a:rPr>
              <a:t>Report Insight
運用ハンドブック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E6F2F2"/>
                </a:solidFill>
                <a:latin typeface="Yu Gothic"/>
              </a:rPr>
              <a:t>壊れたときに、何を見て・どう直すか。監視／障害対応／デプロイの実務指針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92040"/>
            <a:ext cx="105156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7315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F2F2"/>
                </a:solidFill>
                <a:latin typeface="Yu Gothic"/>
              </a:rPr>
              <a:t>対象：開発・インフラ運用担当 / SRE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F2F2"/>
                </a:solidFill>
                <a:latin typeface="Yu Gothic"/>
              </a:rPr>
              <a:t>前提：AWS(ECS/RDS/SQS/S3) + Terraform + 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5120640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5120640"/>
            <a:ext cx="2286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B2F5C"/>
                </a:solidFill>
                <a:latin typeface="Yu Gothic"/>
              </a:rPr>
              <a:t>運用者向け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577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D9E6E6"/>
                </a:solidFill>
                <a:latin typeface="Yu Gothic"/>
              </a:rPr>
              <a:t>〇〇ビルメンテナンス株式会社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運用者が押さえるべきは「非同期パイプライン」と「LLM依存」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A202C"/>
                </a:solidFill>
                <a:latin typeface="Yu Gothic"/>
              </a:rPr>
              <a:t>本システムは①S3→SQS→Workerの非同期取込と②LLM(Claude API)への外部依存を持つ。一般的なWeb運用に加え、この2点の“詰まり”と“外部障害”の勘所を先に共有する。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352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非同期の詰まり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3864"/>
            <a:ext cx="3008376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SQSにメッセージが滞留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DLQ（失敗キュー）に落ちる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→ Worker/DB/LLMのどこが
 原因かを切り分ける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697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9352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外部LLM依存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483864"/>
            <a:ext cx="3008376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Claude APIの5xx / レート超過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レイテンシ悪化・コスト急増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→ 503+Retry-Afterで縮退、
 監視でトークン量を追う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69748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9352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品質の劣化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483864"/>
            <a:ext cx="3008376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分類精度・構造化失敗率の低下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プロンプト変更が回帰を招く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→ CIの回帰評価ゲートで
 マージ前に検知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詳細：基本設計書 §2 / §4、CI/CD設計 §7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2B4A8B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5146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FFFF"/>
                </a:solidFill>
                <a:latin typeface="Yu Gothic"/>
              </a:rPr>
              <a:t>システム全体像と処理フロー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7168" y="3429000"/>
            <a:ext cx="2194560" cy="381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87168" y="365760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CED9"/>
                </a:solidFill>
                <a:latin typeface="Yu Gothic"/>
              </a:rPr>
              <a:t>どのコンポーネントが、どの順で、何をするか。障害切り分けの地図として。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全体アーキテクチャ ― 取込系(Worker)とAPI系を分離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B2F5C"/>
                </a:solidFill>
                <a:latin typeface="Yu Gothic"/>
              </a:rPr>
              <a:t>■ 取込・構造化（非同期）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148840"/>
            <a:ext cx="1737360" cy="54864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2768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現行報告システム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0604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日次連携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423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148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148840"/>
            <a:ext cx="1280160" cy="54864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27685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60604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生データ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2423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148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148840"/>
            <a:ext cx="1280160" cy="54864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27685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SQS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60604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キュー / DLQ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4184" y="2423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1488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148840"/>
            <a:ext cx="19202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27685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構造化Worker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0604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ECS Fargate /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423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21488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2148840"/>
            <a:ext cx="2606040" cy="54864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22768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Claude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60604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分類・要約・構造化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520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B2F5C"/>
                </a:solidFill>
                <a:latin typeface="Yu Gothic"/>
              </a:rPr>
              <a:t>■ 検索・報告書生成（同期API）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8404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3840480"/>
            <a:ext cx="1737360" cy="54864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396849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支店管理者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29768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ブラウザ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50592" y="4114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8404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1B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26080" y="3840480"/>
            <a:ext cx="1920240" cy="54864"/>
          </a:xfrm>
          <a:prstGeom prst="rect">
            <a:avLst/>
          </a:prstGeom>
          <a:solidFill>
            <a:srgbClr val="1B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396849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FastAPI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29768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ECS Fargate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1184" y="4114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49240" y="384048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49240" y="3840480"/>
            <a:ext cx="2651760" cy="5486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39684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RDS PostgreSQL + pgvector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429768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報告書 / 埋め込み / 監査ログ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1148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2B4A8B"/>
                </a:solidFill>
                <a:latin typeface="Yu Gothic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384048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03920" y="3840480"/>
            <a:ext cx="3017520" cy="54864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39684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Claude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429768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RAG回答 / 月次生成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92240" y="5029200"/>
            <a:ext cx="5029200" cy="7315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5029200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C0392B"/>
                </a:solidFill>
                <a:latin typeface="Yu Gothic"/>
              </a:rPr>
              <a:t>Workerが緊急度「高」を検出 → Slack/メールへ即時Webhook通知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5166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切り分けの起点：赤=Worker / 藍=API / 緑=DB。
症状がどのラインで起きているかをまず特定する。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出典：基本設計書 §1 コンポーネント一覧 / README アーキテクチャ図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取込パイプラインの内部処理と“止まりどころ”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881360" cy="5486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段階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92024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192024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失敗時の挙動 / 監視ポイント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6888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46888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1. 受信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46888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SQSからメッセージ取得（冪等）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46888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重複はUPSERTで吸収。滞留=Worker能力/詰まり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8136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01752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2. PIIマスキング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301752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個人名・電話番号を除去してからLLM送信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01752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マスキング漏れは重大。事前検証必須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661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6616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3. 分類(structured)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56616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category/urgency/action_required を構造化出力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356616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パース失敗=構造化失敗率に計上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1088136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11480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4. 確信度判定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411480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閾値未満は needs_review に倒す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411480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しきい値はチューニング対象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6344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5. 緊急通知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6896" y="466344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urgency=high は Webhook 即通知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466344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通知失敗はリトライ、監視で検知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212080"/>
            <a:ext cx="1088136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212080"/>
            <a:ext cx="1627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6. 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6896" y="5212080"/>
            <a:ext cx="39136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冪等UPSERTでDBへ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6" y="521208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1A202C"/>
                </a:solidFill>
                <a:latin typeface="Yu Gothic"/>
              </a:rPr>
              <a:t>失敗は再試行→最終的にDLQ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1920240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760720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出典：基本設計書 §2.1 / README ステータス（F-1 実装済）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RAG検索フロー ― ハルシネーションとコストの防波堤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6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2084831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10312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97480"/>
            <a:ext cx="1901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埋め込み生成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1901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クエリをベクトル化
(fastembed / e5-large)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2926080"/>
            <a:ext cx="109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B4A8B"/>
                </a:solidFill>
                <a:latin typeface="Yu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103120"/>
            <a:ext cx="2084831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52928" y="210312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1031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697480"/>
            <a:ext cx="1901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ハイブリッド検索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200400"/>
            <a:ext cx="1901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意味検索＋メタデータ
＋認可フィルタ（支店スコープ）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2926080"/>
            <a:ext cx="109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B4A8B"/>
                </a:solidFill>
                <a:latin typeface="Yu Gothic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7488" y="2103120"/>
            <a:ext cx="2084831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47488" y="210312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21031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697480"/>
            <a:ext cx="1901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0件判定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200400"/>
            <a:ext cx="1901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該当なしなら即返す
LLM呼ばず短絡（コスト節約）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2926080"/>
            <a:ext cx="109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B4A8B"/>
                </a:solidFill>
                <a:latin typeface="Yu Gothic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2048" y="2103120"/>
            <a:ext cx="2084831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42048" y="210312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21031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2697480"/>
            <a:ext cx="1901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SSE生成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3200400"/>
            <a:ext cx="1901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sources→token→done を
ストリーミング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79" y="2926080"/>
            <a:ext cx="109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B4A8B"/>
                </a:solidFill>
                <a:latin typeface="Yu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6608" y="2103120"/>
            <a:ext cx="2084831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36608" y="2103120"/>
            <a:ext cx="2084831" cy="45720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21031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STEP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8" y="2697480"/>
            <a:ext cx="1901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引用の実在検証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3200400"/>
            <a:ext cx="19019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存在する報告書IDのみ
引用として返す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57200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E9EEF7"/>
          </a:solidFill>
          <a:ln w="1270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0916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運用上の意味：0件短絡は“無駄なLLM課金”を止める仕組み。引用の実在検証はAPI層で行うため、検証をすり抜けた引用が出た場合はAPI側のバグを疑う。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5B6677"/>
                </a:solidFill>
                <a:latin typeface="Yu Gothic"/>
              </a:rPr>
              <a:t>性能目標：検索応答3秒以内（生成部はストリーミング表示で体感を担保）。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出典：API設計書 §3 POST /search / 基本設計書 §2.2（F-2 実装済）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2B4A8B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5146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FFFF"/>
                </a:solidFill>
                <a:latin typeface="Yu Gothic"/>
              </a:rPr>
              <a:t>監視・障害対応・デプロイ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7168" y="3429000"/>
            <a:ext cx="2194560" cy="381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87168" y="365760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CED9"/>
                </a:solidFill>
                <a:latin typeface="Yu Gothic"/>
              </a:rPr>
              <a:t>日々どこを見るか。アラートが鳴ったら何をするか。安全に出す・戻す。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監視：毎朝この4指標を見る（CloudWatch）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10881360" cy="658368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指標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1920240"/>
            <a:ext cx="30906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意味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1920240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正常の目安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920240"/>
            <a:ext cx="33649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外れたら疑うこと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78608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578608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構造化失敗率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578608"/>
            <a:ext cx="30906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LLM構造化のパース/処理失敗の割合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578608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低位で安定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578608"/>
            <a:ext cx="33649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プロンプト変更 / LLM側障害 / 入力異常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36976"/>
            <a:ext cx="10881360" cy="65836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236976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APIエラー率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3236976"/>
            <a:ext cx="30906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FastAPIの5xx割合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3236976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1%未満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236976"/>
            <a:ext cx="33649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DB接続 / LLM 503 / デプロイ直後の退行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895344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895344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トークン消費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9776" y="3895344"/>
            <a:ext cx="30906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Claude APIの入出力トークン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3895344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日次予算内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95344"/>
            <a:ext cx="33649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検索急増 / 0件短絡の不発 / プロンプト肥大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553712"/>
            <a:ext cx="10881360" cy="65836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553712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SQS滞留 / DLQ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9776" y="4553712"/>
            <a:ext cx="30906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未処理件数と失敗キュー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616" y="4553712"/>
            <a:ext cx="181051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滞留ゼロ・DLQ空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553712"/>
            <a:ext cx="33649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Worker停止 / 例外多発 / スロットリング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1920240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212080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4406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202C"/>
                </a:solidFill>
                <a:latin typeface="Yu Gothic"/>
              </a:rPr>
              <a:t>これらは非機能要件（コスト月10万円 / 分類精度90% / 応答3秒）の健康診断。閾値超過はSNS経由でアラート通知。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出典：基本設計書 §4 監視・運用設計 / 要件定義書 §6 非機能要件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アラートが鳴ったら ― 症状別の初動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10881360" cy="5486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74519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アラート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1874519"/>
            <a:ext cx="3456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まず見る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1874519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初動アクション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23159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423159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SQS滞留 / DLQ増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2423159"/>
            <a:ext cx="3456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Workerタスク数・Workerログ・例外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423159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Worker再起動→原因例外を特定→DLQを再投入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71799"/>
            <a:ext cx="1088136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71799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APIエラー率↑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971799"/>
            <a:ext cx="3456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対象エンドポイント・直近デプロイ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971799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退行ならロールバック / DB・LLM起因なら縮退確認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20439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20439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LLM 503 多発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3520439"/>
            <a:ext cx="3456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Claude APIステータス・Retry-After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520439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縮退(503応答)継続を確認・復旧待ち・必要ならモデル切替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069079"/>
            <a:ext cx="1088136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069079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トークン急増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2656" y="4069079"/>
            <a:ext cx="3456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検索リクエスト数・0件短絡率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4069079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異常クエリ源を特定→レート制限(10req/min)確認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19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17719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構造化失敗率↑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2656" y="4617719"/>
            <a:ext cx="3456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直近のプロンプト/モデル変更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617719"/>
            <a:ext cx="4828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202C"/>
                </a:solidFill>
                <a:latin typeface="Yu Gothic"/>
              </a:rPr>
              <a:t>変更をロールバック→回帰評価で再確認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1874519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166359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534924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E9EEF7"/>
          </a:solidFill>
          <a:ln w="11430">
            <a:solidFill>
              <a:srgbClr val="2B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原則：外部(LLM)障害は“縮退して待つ”、内部退行は“戻す（ロールバック）”。切り分けの起点は「直近にデプロイしたか？」。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出典：API設計書 §1 エラー設計(503/429) / CI/CD設計 §5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デプロイ／ロールバック ― 安全に出す・すぐ戻す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10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116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パイプライン（GitHub Actions）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98064"/>
            <a:ext cx="48371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test → LLM回帰評価 → build → deploy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回帰評価が閾値割れならマージ/デプロイを止める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認証はOIDC（静的キーを置かない）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249424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ブランチ保護と環境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798064"/>
            <a:ext cx="48371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main保護＋レビュー必須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dev環境で先行検証してからprod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IaCはterraform plan差分をレビュー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690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06824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ロールバック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55464"/>
            <a:ext cx="48371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ECSは前タスク定義に戻す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DBはAlembicのdowngradeを事前確認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プロンプト/モデルはgit revertで即戻す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690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306824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リリース判断の勘所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855464"/>
            <a:ext cx="483717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LLM関連変更は回帰評価green必須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デプロイ直後はAPIエラー率を注視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疑わしきはロールバック優先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出典：CI/CD・DevSecOps設計 §1・§4・§5 / IaC戦略 §plan差分レビュー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セキュリティ ― 社外秘 × LLM の勘所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11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11680"/>
            <a:ext cx="3520440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データ保護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98064"/>
            <a:ext cx="3008376" cy="2779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LLM送信前にPIIマスキング
 （個人名・電話番号）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IP制限＋SSO想定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認可フィルタは検索・一覧の
 DBクエリ段で強制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011680"/>
            <a:ext cx="3520440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494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DevSecOpsゲート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98064"/>
            <a:ext cx="3008376" cy="2779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SAST / SCA / IaCスキャン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コンテナイメージスキャン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脆弱性トリアージSLAで対応期限管理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クレデンシャルは静的キーゼロ(OIDC)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011680"/>
            <a:ext cx="3520440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2494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LLM固有リスク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798064"/>
            <a:ext cx="3008376" cy="2779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プロンプトインジェクション対策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出力を鵜呑みにしない
 （引用の実在検証）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監査ログ（承認操作等）を記録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OWASP LLM Top10を設計で参照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出典：基本設計書 §3 / CI/CD設計 §2・§3・§7（LLMセキュリティ）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B4A8B"/>
                </a:solidFill>
                <a:latin typeface="Yu Gothic"/>
              </a:rPr>
              <a:t>運用者向け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コスト管理 ― 月10万円を超えさせない仕組み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12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116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コストを抑える設計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98064"/>
            <a:ext cx="4837176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タスク別にモデルを使い分け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検索0件は短絡してLLMを呼ばない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プロンプト肥大を避ける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249424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B2F5C"/>
                </a:solidFill>
                <a:latin typeface="Yu Gothic"/>
              </a:rPr>
              <a:t>監視で守る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798064"/>
            <a:ext cx="4837176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トークン消費をCloudWatchで実測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日次コストアラート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超過源をクエリ単位で特定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23360"/>
            <a:ext cx="10881360" cy="1737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B2F5C"/>
                </a:solidFill>
                <a:latin typeface="Yu Gothic"/>
              </a:rPr>
              <a:t>コスト急増を見たときの分解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① 件数が増えたのか（検索/取込のリクエスト数） ② 1件が重くなったのか（プロンプト・入力トークン肥大） ③ 0件短絡が効いていないのか（無駄なLLM呼び出し）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 i="0">
                <a:solidFill>
                  <a:srgbClr val="1B2F5C"/>
                </a:solidFill>
                <a:latin typeface="Yu Gothic"/>
              </a:rPr>
              <a:t>→ この3軸で切り分ければ、原因は必ずどれかに落ちる。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出典：要件定義書 §6（コスト要件）/ ADR-003 LLM戦略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Yu Gothic"/>
              </a:rPr>
              <a:t>定常運用チェックリスト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D9E1F0"/>
                </a:solidFill>
                <a:latin typeface="Yu Gothic"/>
              </a:rPr>
              <a:t>この頻度で回せば、障害は“予兆”のうちに拾える。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3383280" cy="50292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毎日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4指標ダッシュボード確認
（失敗率/APIエラー/トークン/DLQ）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DLQ件数がゼロか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コストアラートの有無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51460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514600"/>
            <a:ext cx="3383280" cy="50292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5146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毎週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200400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未分類キュー滞留の傾向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分類精度の推移レビュー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脆弱性スキャン結果のトリアージ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514600"/>
            <a:ext cx="3383280" cy="502920"/>
          </a:xfrm>
          <a:prstGeom prst="roundRect">
            <a:avLst>
              <a:gd name="adj" fmla="val 6000"/>
            </a:avLst>
          </a:prstGeom>
          <a:solidFill>
            <a:srgbClr val="2B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5146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リリース時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0400"/>
            <a:ext cx="2926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回帰評価がgreenか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デプロイ直後のエラー率監視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☐ ロールバック手順の再確認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60720"/>
            <a:ext cx="105156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D9E1F0"/>
                </a:solidFill>
                <a:latin typeface="Yu Gothic"/>
              </a:rPr>
              <a:t>次アクション：Runbook（詳細手順書）とオンコール体制の整備、AWS dev環境での障害訓練（P2）。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